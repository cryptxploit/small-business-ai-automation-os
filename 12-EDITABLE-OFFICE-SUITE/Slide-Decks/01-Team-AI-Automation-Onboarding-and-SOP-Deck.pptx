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TEAM ONBOARDING  •  SLIDE 01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Welcome to Our Small Business AI Automation OS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Eliminating Administrative Drudgery While Protecting Every Team Role (Zero-Layoff Guarantee)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1. Why We Automate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Remove 15–25 hours/week of repetitive copy-pasting between forms, spreadsheets, and billing.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Respond to every new customer inquiry in under 60 seconds 24/7.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Give staff uninterrupted focus for high-value craftsmanship and client care.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2. Zero-Layoff Guarantee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Automation replaces robotic admin tasks—never dedicated people.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Hours saved are reinvested into higher-value customer service, faster delivery, and calmer workdays.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Every workflow has a named human owner on our team.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3. The 5-Department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Dept 01: 60-Second Lead Capture &amp; Speed-to-Lead.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Dept 02: 3-Option Quoting &amp; 14-Day Follow-Up.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Dept 03: Onboarding, 3-Tier Support &amp; 5-Star Reviews.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Dept 04 &amp; 05: Invoicing/AR, Living SOPs &amp; Friday Pulse.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Goal: Reclaim 18+ hours/week of manual admin friction within 90 days with 100% staff participation.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SAFETY ARCHITECTURE  •  SLIDE 02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T.R.A.V. Safety Contract (Zero Hallucinations)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How Trigger -&gt; Rules -&gt; AI -&gt; Verification Prevents Bad Promises and Pricing Errors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Trigger &amp; Deterministic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Every workflow starts from a verified webhook or timer event.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Pre-AI code rules check regex safety filters and pull locked prices from our Truth Table.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The AI is never allowed to invent prices or perform math on its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Grounded AI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Models run at temperature 0.0 to 0.1 using strict JSON schemas.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Prompts only use facts explicitly passed in the input payload.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Missing facts trigger an automatic human clarification flag.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Green / Amber / Red Gates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Green (~75%): Routine intake, booking links &amp; FAQs run 24/7.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Amber (~20%): Quotes &amp; custom credits wait for a 15-second Slack click.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Red (~5%): Angry clients or disputes halt the bot for human takeover.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Golden Rule: Deterministic Rules do the math; AI writes the prose; Humans certify Amber &amp; Red gates.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AMBER GATE WORKFLOW  •  SLIDE 03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How to Process a 15-Second Slack Amber Approval Card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Daily Staff SOP for Reviewing Quotes, Scope Notices, and Courtesy Credits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1: Read the Context Header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Monitor #amber-approvals in Slack or Microsoft Teams.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Inspect the customer name, LTV, deterministic price calculation, and AI draft.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Verify that all dates, SKU names, and dollar figures match our pricebook.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2: Choose 1 of 3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Click [Approve &amp; Send] if 100% accurate (takes 15 seconds).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Click [Edit Draft] if a minor wording adjustment is needed.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Click [Escalate / Hold] to pause automation and call the client directly.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Step 3: SLA &amp; Audit Logging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Process Amber cards within 15 minutes during business hours.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Every approval click is automatically logged in Notion Database 02.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Never approve a discount or refund above your authorization tier.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Amber Gate SLA: 100% of Amber approval cards reviewed within 15 minutes during operating hours.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DEPT 01 SPEED-TO-LEAD  •  SLIDE 04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Running the 60-Second Omnichannel Lead Concierge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Capturing Web Forms, Missed Calls, Voicemails, and Social DMs Without Dropping Prospects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Web &amp; Social Lead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Website forms, Facebook/IG Lead Ads, and Google messages route to Blueprint 01.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Phone numbers normalize to E.164 and deduplicate against Notion Database 01.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Prospect receives a warm SMS + booking link in under 60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Missed-Call Text-Back Whisper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When all lines are busy, OpenPhone/Twilio triggers Prompt 3.3 within 15 seconds.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The caller receives a polite text asking how we can help or offering a booking slot.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Whisper summary posts to #inbound-leads with transcript and urgency score.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Pre-Call Rep Briefing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30 minutes before any booked consultation, Prompt 3.5 sends a 1-page brief.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Includes B.A.N.T.-Lite qualification notes and top 3 talking points.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Reps enter every call prepared without manual CRM digging.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01 SLA: Median Speed-to-Lead &lt;= 60 seconds; Missed-Call Recovery Rate &gt;= 85%.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DEPT 02 QUOTING  •  SLIDE 05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Voice-to-3-Tier Proposals &amp; The 14-Day Follow-Up Loop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How Field Estimators and Sales Reps Send Polished Quotes in Under 15 Minutes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90-Second Post-Visit Voice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Immediately after a site visit or discovery call, record a 90-second voice memo.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State client name, measurements/scope, and recommended SKU codes.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Whisper transcribes the note and passes it to Blueprint 03.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Locked Good-Better-Best Math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Code nodes pull exact unit prices from our locked SKU Pricebook.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Prompt 4.1 formats Option A (Essential), Option B (Recommended), and Option C (Premium).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Estimator clicks [Approve] on the Amber Slack card to dispatch PDF + payment link.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Polite-Persistence Follow-Up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6 value-driven touches over 14 days (Day 1, 3, 5, 8, 11, 14).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State machine checks Proposal_Status before every send.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Follow-ups halt the millisecond the client signs, pays, or replies.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02 SLA: 90%+ of quotes sent within 15 minutes; 14-day quote close rate &gt;= 35%.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DEPT 03 ONBOARDING  •  SLIDE 06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Zero-Drop Client Onboarding &amp; Scope-Creep Protection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Eliminating the Post-Payment Silence Gap Between Sales and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Instant Payment Provisioning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Stripe, Square, or QuickBooks deposit webhook triggers within 30 seconds.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Automatically creates client cloud folder, Notion project tasks, and welcome email.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Sends pre-filled intake link asking only for net-new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Automated Intake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Prompt 5.3 checks uploaded files for completeness and readability.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Missing items trigger polite Day-2 and Day-4 reminders with 1-click upload links.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Kickoff call activates automatically once 100% of required items are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Scope-Boundary Early Warning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Prompt 5.5 compares client requests against signed agreement deliverables.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Out-of-scope requests generate a friendly Amber-Gate Change Order draft.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Protects team profit margins without awkward confrontations.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03 Onboarding SLA: Payment-to-onboarding completion cycle time &lt;= 24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DEPT 03 SUPPORT SHIELD  •  SLIDE 07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24/7 AI Customer Support &amp; Red-Zone De-Escalation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Deflecting 60%+ of Routine Tickets While Giving Frustrated Clients Immediate Human Care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Tier 1 Green Auto-Resolution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Hours, directions, warranty rules, and live order/visit tracking run 24/7.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Grounded strictly in Database 05 (Single-Source Support Knowledge Base).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Zero guessing: if KB confidence &lt; 0.88, ticket routes to human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Tier 3 Red-Zone Takeover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Pre-AI regex catches legal, safety, chargeback, or angry keywords instantly.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Sentiment &lt;= 2 mutes the bot and alerts #red-alerts with a 5-bullet brief.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Assigned manager calls or replies within 15 minutes using H.E.A.R.T. protocol.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Friday KB Gap Patching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Every Friday at 2:00 PM, Prompt 6.5 audits all escalated tickets.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Drafts 3-to-5 new FAQ entries for manager approval.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Support deflection improves automatically every single week.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03 Support SLA: &gt;= 60% Tier-1 auto-resolution in &lt; 45s; &lt; 15m human response on Red alerts.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DEPT 03 REVIEWS  •  SLIDE 08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The 5-Star Reputation &amp; Repeat-Sales Flywheel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Capturing Public Google Reviews at the Golden Moment and Reactivating Past Clients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Golden-Moment Sentiment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Triggered 2 hours after a successful service visit or confirmed delivery.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Asks a 1-click question: 'How did we do today?'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Separates thrilled advocates from private feedback before public posting.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Advocate vs. Detractor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4–5 Star clicks route directly to our Google Business Profile review link.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Prompt 7.2 provides 3 memory-jogger bullet prompts so reviewing takes 20 seconds.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1–3 Star clicks open a private owner resolution form and alert #red-alerts.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60/90/180-Day Win-Back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Scans CRM weekly for dormant clients due for seasonal tune-up or reorder.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Sends personal check-in note referencing their exact past service.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Generates high-margin repeat bookings with zero ad spend.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03 Reputation SLA: 3+ net new 5-star reviews/week; 100% public reviews answered within 24h.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DEPT 04 FINANCE  •  SLIDE 09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Same-Day Invoicing, 5-Stage AR Chasers &amp; Expense OCR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Compressing Days Sales Outstanding (DSO) and Preventing Supplier Overcharges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Same-Day Milestone Billing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Marking a job 'Complete' triggers Prompt 8.1 to format clean invoice line items.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Dispatches invoice PDF + 1-click ACH/card payment link the same afternoon.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Eliminates Friday night billing backlogs.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Polite-to-Firm AR Chasers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Stage 1 (Day -3): Friendly upcoming due reminder.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Stage 2 &amp; 3 (Day +1 &amp; +7): Helpful check-in with direct payment link.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Stage 4 &amp; 5 (Day +15 &amp; +30): Amber-gated firm notice + human phone call brief.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Receipt OCR &amp; 5% Price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Staff snap photos of supplier bills/receipts into #expenses-ocr.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Prompt 8.3 extracts vendor, GL category, tax, and line-item unit prices.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Prompt 8.4 flags any supplier unit-price hike &gt; 5% before payment.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04 Cashflow SLA: Average DSO &lt;= 16 days; Overdue Receivables &gt; 15 days &lt;= $2,500.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DEPT 05 LIVING SOPS  •  SLIDE 10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Recording 3-Minute Loom Videos to Build Living 7-Block SOPs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Ending the 'Ask the Owner Everything' Bottleneck Across Our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Record Once, Document 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Next time you perform a recurring task, record a 3-minute screen/voice walkthrough.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Talk naturally about what you click, what you check, and common mistakes.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Drop the transcript into Prompt 9.1 (Living SOP Compiler).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The 7-Block SOP 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Every SOP contains: Metadata, Trigger, Pre-Flight Checklist, Numbered Steps, Quality Checks, Exceptions, and Definition of Done.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Stored in Notion Database 03 with a version tag and 90-day review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Internal Ask-the-SOP 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New hires and staff ask procedural questions in #ask-the-sop.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Prompt 9.4 answers in 10 seconds citing the exact SOP ID and step number.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Cuts new-hire onboarding ramp time by more than 50%.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Dept 05 SOP SLA: Top 20 core processes documented in 7-Block format; 100% new hires certified in 7 days.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PRIVACY &amp; SECURITY  •  SLIDE 11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Staff AI Data Privacy, PII Redaction &amp; Kill-Switch Protocol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Non-Negotiable Security Rules for Every Team 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Approved Workspace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Only use company-provisioned OpenAI/Claude/Make workspaces with 2FA enabled.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Never paste customer data into personal free-tier chatbots or browser plugins.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Zero model training is enabled on our company API keys.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PII, PCI &amp; Clinical Redaction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Never enter full 16-digit card numbers, SSNs, or passwords into any prompt.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Clinics: Never include patient diagnoses or symptoms in outbound SMS texts.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Pre-AI regex filters automatically mask sensitive numbers before AI processing.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60-Second Manual Kill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If any workflow behaves unexpectedly, open Notion Database 02 immediately.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Toggle the workflow switch OFF and activate the matching Emergency Script (01–12).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Post a 1-line notice in #red-alerts so the Operations Lead can inspect the log.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Security Mandate: Zero raw payment/ID data in prompts; every staff member knows the 60s Kill Switch.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25880"/>
            <a:ext cx="12191695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4D399"/>
                </a:solidFill>
              </a:defRPr>
            </a:pPr>
            <a:r>
              <a:t>DECK 01 • WEEKLY RHYTHM  •  SLIDE 12 OF 12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Our Friday 3:00 PM Scorecard &amp; Monday 8:45 AM Huddle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How Our Entire Team Stays Aligned in 15 Minutes Per Week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3584448" cy="47548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Friday 3:00 PM Telemetry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Blueprint 05 aggregates all 12 KPIs across Leads, Sales, Ops, Support, and Cashflow.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Each metric is automatically graded GREEN, AMBER, or RED against our SLA.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Leadership identifies the single highest-impact bottleneck for next week.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06824" y="1627632"/>
            <a:ext cx="3584448" cy="47548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Monday 8:45 AM 15m Huddle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1416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Minutes 0–3: Celebrate customer wins and 5-star reviews.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Minutes 3–8: Review the 12 KPIs and hours saved.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Minutes 8–15: Lock in the single process improvement for the week.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0728" y="1627632"/>
            <a:ext cx="3584448" cy="434340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0728" y="1627632"/>
            <a:ext cx="3584448" cy="47548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82496"/>
            <a:ext cx="33101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Your Day-1 Action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94560"/>
            <a:ext cx="325526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Sign the Staff AI Acceptable Use Policy (Doc 05).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Join #amber-approvals, #red-alerts, and #ask-the-sop in Slack.</a:t>
            </a:r>
          </a:p>
          <a:p>
            <a:pPr>
              <a:spcAft>
                <a:spcPts val="700"/>
              </a:spcAft>
              <a:defRPr sz="1150">
                <a:solidFill>
                  <a:srgbClr val="1E293B"/>
                </a:solidFill>
              </a:defRPr>
            </a:pPr>
            <a:r>
              <a:t>• Complete your first 5-day manual friction task log (Worksheet 01).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144768"/>
            <a:ext cx="11183112" cy="47548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EXECUTIVE MANDATE &amp; SLA TARGET:  Operating Rhythm: 15-minute Friday Owner Review + 15-minute Monday Team All-Hands Huddle.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