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02 • EXECUTIVE REVIEW  •  SLIDE 01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Quarterly AI Automation ROI &amp; 12-KPI Performance Review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Comparing Baseline Manual Friction Against Post-Deployment Operational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Completed 90-day phased deployment across all 5 core departments.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Reduced weekly manual admin friction from 26.0 hrs/wk to 6.5 hrs/wk (-75%).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Generated $44,290 in net quarterly value on $495 total software/API spend.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Safety &amp; Governance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18 active workflows operating under T.R.A.V. Green/Amber/Red gates.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Zero pricing or policy hallucinations across 1,420 customer interactions.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99.4% webhook uptime with 100% Dead-Letter Queue recovery.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Team &amp; Culture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Zero headcount reductions; 19.5 hrs/wk reallocated to client service.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New-hire onboarding ramp time compressed from 21 days to 8 days.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Employee satisfaction with internal tools rose from 2.8/5 to 4.7/5.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Quarterly Bottom Line: 89.4x Return on Software Spend with Zero Customer Safety Incidents.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02 • CMF REDUCTION  •  SLIDE 02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Cost of Manual Friction (CMF): Baseline vs. Quarter Actuals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Financial Breakdown Across Labor Waste, Lead-Leak Rescue, and Working Capital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Labor Waste Recovered (L_tax)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Baseline: 26.0 manual hours/week ($78,416/yr annualized cost).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Quarter Actual: 6.5 manual hours/week (19.5 hrs/wk saved).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Annualized Labor Capacity Reclaimed: $58,812/year.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Lead Revenue Rescued (R_leak)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Baseline: 36% of inbound leads waited &gt; 5 minutes ($149,184/yr leak).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Quarter Actual: 96.4% of leads answered in &lt; 60 seconds (38s median).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Annualized Rescued Gross Revenue: $98,400/year.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Cashflow Acceleration (C_drag)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Baseline: 42.0 Days Sales Outstanding ($18,500 overdue &gt; 15 days).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Quarter Actual: 13.4 Days Sales Outstanding ($1,420 overdue &gt; 15 days).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Working Capital Freed into Operating Cash: +$46,200.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Total Annualized CMF Recovery Run-Rate: $181,612/yr vs. $1,980/yr Tool-Stack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02 • DEPT 01 TELEMETRY  •  SLIDE 03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Department 01 Review: Omnichannel Speed-to-Lead &amp; Booking Lift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Performance of Blueprint 01 &amp; Prompts 3.1–3.5 Across Web, Phone, and 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Response Latency Collapse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Prior Quarter Median Response: 3 hours 42 minutes.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Current Quarter Median Response: 38 seconds (24/7 including weekends).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99.1% of high-intent inquiries received a booking link within 60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Missed-Call Text-Back 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Captured 114 missed calls during peak field/clinical hours.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104 callers engaged with the 15-second SMS concierge (91.2% recovery).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Booked 41 paid appointments directly from rescued missed calls ($75,850).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Lead Quality &amp; Rep Readiness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Non-intrusive B.A.N.T.-Lite scoring filtered out 28 out-of-territory inquiries.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Sales reps received automated pre-call briefs 30m before every meeting.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No-show rate dropped from 22% down to 6.5%.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Dept 01 Verdict: GREEN across all 3 KPIs (38s Speed-to-Lead, 91.2% Call Recovery).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02 • DEPT 02 TELEMETRY  •  SLIDE 04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Department 02 Review: 3-Tier Proposal Velocity &amp; Close Rate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Performance of Blueprint 03 &amp; Prompts 4.1–4.5 on Sales Conversion and AOV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Proposal Turnaround 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Prior Quarter Quote Turnaround: 48 to 72 hours after site visit.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Current Quarter Quote Turnaround: 12 minutes via 90s voice memo.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94% of estimates delivered while buyer intent was at peak.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Good-Better-Best Upsell Lift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62% of buyers selected Option B (Recommended) or Option C (Premium).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Average Order Value (AOV) increased from $1,850 to $2,310 (+24.8%).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Zero margin-erosion errors thanks to locked SKU pricebook lookups.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14-Day Follow-Up 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Automated 6-touch follow-up rescued 19 stalled quotes after Day 4.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14-day proposal close rate improved from 24.0% to 38.4% (+14.4 pts).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Zero awkward post-signature texts (100% auto-stop accuracy).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Dept 02 Verdict: GREEN across all KPIs (12m Quote Speed, 38.4% Close Rate, +24.8% AOV).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02 • DEPT 03 TELEMETRY  •  SLIDE 05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Department 03 Review: Onboarding, Support Deflection &amp; Reviews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Performance of Prompts 5.1–7.5 on Client Retention, CSAT, and Google Ranking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Zero-Drop Client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Payment-to-kickoff cycle time dropped from 8.5 days to 11.2 hours.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Automated intake validation cut missing-document delays by 78%.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Early scope-creep detection generated $8,400 in approved change orders.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3-Tier Support Shield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68.5% of Tier-1 tickets resolved in &lt; 42 seconds unattended.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Customer Satisfaction (CSAT) held at 4.91 / 5.00 across 640 tickets.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100% of Red-Gate tickets received human manager contact in &lt; 12 minutes.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Reputation &amp; Win-Back Flywheel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Added 58 net new 5-star Google reviews in 90 days (+4.2x velocity).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Sentiment gate intercepted 4 detractor issues privately before public posting.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90-day dormant win-back campaign generated $29,600 in repeat orders.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Dept 03 Verdict: GREEN across Onboarding (11.2h), Support (68.5% deflection), and Reviews (+58 5-star).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02 • DEPT 04 TELEMETRY  •  SLIDE 06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Department 04 Review: Invoicing, AR Chasers &amp; Supplier Audits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Performance of Blueprint 04 &amp; Prompts 8.1–8.5 on Working Capital and Margin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Same-Day Billing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98.5% of completed jobs billed within 15 minutes of completion sign-off.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Eliminated 6.5 hours/week of Friday evening manual invoice entry.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1-click ACH/card links increased same-day invoice payment to 61%.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DSO &amp; Overdue AR Compression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Days Sales Outstanding (DSO) dropped from 42.0 days to 13.4 days.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Overdue receivables &gt; 15 days reduced from $18,500 down to $1,420.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Zero client relationship complaints from polite Stage 1–3 reminders.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AP OCR &amp; 5% Price-Creep 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Processed 215 supplier bills/receipts via mobile OCR in &lt; 20s each.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Caught 4 unannounced vendor unit-price hikes exceeding 5% ($3,180 saved).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Monthly bookkeeper close completed by the 3rd business day.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Dept 04 Verdict: GREEN across Cashflow (13.4d DSO, $1,420 overdue &gt;15d, $3,180 AP overcharges caught).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02 • DEPT 05 TELEMETRY  •  SLIDE 07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Department 05 Review: Living SOP Vault &amp; Owner Bandwidth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Performance of Prompts 9.1–10.5 on Team Autonomy and Founder Work-Life Balance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Living SOP Vault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Compiled 32 structured 7-Block SOPs from 3-minute Loom recordings.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Internal #ask-the-sop bot answered 190 staff questions with 96% accuracy.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Routine 'how do I do this?' interruptions to the owner dropped by 82%.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Owner Hours Reclaimed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Founder weekly working hours reduced from 57 hrs/wk to 37.5 hrs/wk.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Friday 3:00 PM Owner Scorecard review averaged 14 minutes/week.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Owner took a 7-day unplugged vacation in Month 3 with zero escalations.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16-Week KPI Trend Stability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11 of 12 KPIs finished the quarter in GREEN status for 8 consecutive weeks.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1 Amber variance (onboarding photo uploads) resolved within 48 hours.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Dept 05 Verdict: GREEN (32 Living SOPs active, 23.5 team+owner hours saved every week).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02 • TOOL STACK AUDIT  •  SLIDE 08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Quarterly Software Spend, Token Efficiency &amp; Security Audit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Financial and Cybersecurity Governance Review (Prompt 10.3 &amp; Prompt 10.4)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Software &amp; API Spend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Make.com Pro Plan (28,400 ops/mo): $29.00/month.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OpenAI &amp; Claude API Inference (temp 0.0–0.1): $31.50/month.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Twilio / OpenPhone SMS &amp; Voice Webhooks: $54.50/month.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Total Monthly Automation Spend: $115.00/mo ($345/quarter).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Zombie SaaS Consolidation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Canceled 3 redundant single-purpose SaaS subscriptions ($190/mo saved).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Net software budget is now $75/mo LOWER than pre-automation baseline.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Quarterly Security &amp; Drift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Rotated all 5 departmental API keys and webhook secrets on Day 90.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Audited 50 random LLM outputs: 0 schema drifts, 0 PII leaks.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Financial Efficiency: Net software spend reduced by $75/mo while producing $15,100/mo in operational gains.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02 • LESSONS &amp; TUNING  •  SLIDE 09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Prompt Tuning Log &amp; Edge-Case Refinements Implemented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Continuous Improvement Highlights from Our Weekly Friday Reviews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Refinement 1: Zip-Code Pre-Gate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Added deterministic postal-code lookup array prior to Prompt 3.1.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Prevented out-of-territory leads from booking field estimator calendar slots.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Saved 3.5 estimator hours/month and referred out-of-area leads politely.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Refinement 2: Photo Estimate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Updated SMS concierge to request 1 wide photo + 1 nameplate close-up.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Improved Vault Prompt V2.2 equipment identification accuracy to 98%.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Reduced on-site parts-run delays by stocking trucks before arrival.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Refinement 3: KB Weekly Patching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Added 19 new verified Q&amp;A rows to Database 05 from Prompt 6.5 audits.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Increased Tier-1 support auto-resolution from 54% (Month 1) to 68.5% (Month 3).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Continuous Improvement: Small 10-minute Friday prompt tweaks compound into massive quarterly gains.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02 • NEXT QUARTER  •  SLIDE 10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Next-Quarter Automation Roadmap &amp; Expansion Priorities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Scaling Growth Without Adding Administrative Overhead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Priority 1: Vertical Vault Drops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Deploy industry-specific recall and replenishment prompts (Vault Drop #01).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Target +$8,500/month in automated repeat customer bookings.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Maintain strict Amber-Gate oversight on all promotional offers.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Priority 2: Cross-Training &amp; Backup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Certify a secondary team member on every department's Amber Gate and Kill Switch.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Run quarterly 60-second emergency fallback drill across all 12 scripts.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Priority 3: Margin 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Keep administrative overhead fixed while scaling top-line revenue by 25%.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Target net operating profit margin increase from 16% to 24%.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Next Quarter Mandate: Scale revenue +25% on existing headcount while keeping all 12 KPIs GREEN.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